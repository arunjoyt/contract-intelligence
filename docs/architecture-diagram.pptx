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600200" y="502920"/>
            <a:ext cx="10104120" cy="534924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9AA3A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rpnext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768095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" y="1417320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24272B"/>
                </a:solidFill>
                <a:latin typeface="Helvetica Neue"/>
              </a:rPr>
              <a:t>ERPNext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645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B727A"/>
                </a:solidFill>
                <a:latin typeface="Courier New"/>
              </a:rPr>
              <a:t>source ERP data</a:t>
            </a:r>
          </a:p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B727A"/>
                </a:solidFill>
                <a:latin typeface="Courier New"/>
              </a:rPr>
              <a:t>(Frappe 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" y="4425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2600" b="0" i="0">
                <a:solidFill>
                  <a:srgbClr val="24272B"/>
                </a:solidFill>
                <a:latin typeface="Helvetica Neue"/>
              </a:rPr>
              <a:t>🧑‍💼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" y="5074920"/>
            <a:ext cx="1463040" cy="2286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24272B"/>
                </a:solidFill>
                <a:latin typeface="Helvetica Neue"/>
              </a:rPr>
              <a:t>Procurement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5303520"/>
            <a:ext cx="12801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800" b="0" i="0">
                <a:solidFill>
                  <a:srgbClr val="6B727A"/>
                </a:solidFill>
                <a:latin typeface="Courier New"/>
              </a:rPr>
              <a:t>chat query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822960"/>
            <a:ext cx="3246120" cy="16916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444B5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896112"/>
            <a:ext cx="297180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B6C53"/>
                </a:solidFill>
                <a:latin typeface="Courier New"/>
              </a:rPr>
              <a:t>INGESTION</a:t>
            </a:r>
          </a:p>
        </p:txBody>
      </p:sp>
      <p:sp>
        <p:nvSpPr>
          <p:cNvPr id="12" name="Oval 11"/>
          <p:cNvSpPr/>
          <p:nvPr/>
        </p:nvSpPr>
        <p:spPr>
          <a:xfrm>
            <a:off x="4457700" y="1271016"/>
            <a:ext cx="457200" cy="457200"/>
          </a:xfrm>
          <a:prstGeom prst="ellipse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700" y="1271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2000" b="0" i="0">
                <a:solidFill>
                  <a:srgbClr val="24272B"/>
                </a:solidFill>
                <a:latin typeface="Helvetica Neue"/>
              </a:rPr>
              <a:t>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773936"/>
            <a:ext cx="7772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24272B"/>
                </a:solidFill>
                <a:latin typeface="Helvetica Neue"/>
              </a:rPr>
              <a:t>Parse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60620" y="1499616"/>
            <a:ext cx="548639" cy="0"/>
          </a:xfrm>
          <a:prstGeom prst="line">
            <a:avLst/>
          </a:prstGeom>
          <a:ln w="12700">
            <a:solidFill>
              <a:srgbClr val="444B5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554980" y="1271016"/>
            <a:ext cx="457200" cy="457200"/>
          </a:xfrm>
          <a:prstGeom prst="ellipse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4980" y="1271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2000" b="0" i="0">
                <a:solidFill>
                  <a:srgbClr val="24272B"/>
                </a:solidFill>
                <a:latin typeface="Helvetica Neue"/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1773936"/>
            <a:ext cx="7772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24272B"/>
                </a:solidFill>
                <a:latin typeface="Helvetica Neue"/>
              </a:rPr>
              <a:t>Chunk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7900" y="1499616"/>
            <a:ext cx="548640" cy="0"/>
          </a:xfrm>
          <a:prstGeom prst="line">
            <a:avLst/>
          </a:prstGeom>
          <a:ln w="12700">
            <a:solidFill>
              <a:srgbClr val="444B5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652260" y="1271016"/>
            <a:ext cx="457200" cy="457200"/>
          </a:xfrm>
          <a:prstGeom prst="ellipse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2260" y="1271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2000" b="0" i="0">
                <a:solidFill>
                  <a:srgbClr val="24272B"/>
                </a:solidFill>
                <a:latin typeface="Helvetica Neue"/>
              </a:rPr>
              <a:t>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773936"/>
            <a:ext cx="7772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24272B"/>
                </a:solidFill>
                <a:latin typeface="Helvetica Neue"/>
              </a:rPr>
              <a:t>Embed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2130552"/>
            <a:ext cx="1431036" cy="292608"/>
          </a:xfrm>
          <a:prstGeom prst="roundRect">
            <a:avLst>
              <a:gd name="adj" fmla="val 50000"/>
            </a:avLst>
          </a:prstGeom>
          <a:solidFill>
            <a:srgbClr val="EEF1F4"/>
          </a:solidFill>
          <a:ln w="9525">
            <a:solidFill>
              <a:srgbClr val="C6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2130552"/>
            <a:ext cx="1431036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Structured → 1 vector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38444" y="2130552"/>
            <a:ext cx="1431036" cy="292608"/>
          </a:xfrm>
          <a:prstGeom prst="roundRect">
            <a:avLst>
              <a:gd name="adj" fmla="val 50000"/>
            </a:avLst>
          </a:prstGeom>
          <a:solidFill>
            <a:srgbClr val="EEF1F4"/>
          </a:solidFill>
          <a:ln w="9525">
            <a:solidFill>
              <a:srgbClr val="C6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38444" y="2130552"/>
            <a:ext cx="1431036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Unstructured → chunks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60704" y="1051560"/>
            <a:ext cx="3099816" cy="617220"/>
          </a:xfrm>
          <a:prstGeom prst="bentConnector3">
            <a:avLst/>
          </a:prstGeom>
          <a:ln w="19050">
            <a:solidFill>
              <a:srgbClr val="1A1D2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874519" y="3246120"/>
            <a:ext cx="1965960" cy="23317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444B5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84248" y="3319272"/>
            <a:ext cx="17465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B6C53"/>
                </a:solidFill>
                <a:latin typeface="Courier New"/>
              </a:rPr>
              <a:t>SERVING</a:t>
            </a:r>
          </a:p>
        </p:txBody>
      </p:sp>
      <p:pic>
        <p:nvPicPr>
          <p:cNvPr id="30" name="Picture 29" descr="fastapi.sv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828" y="3995927"/>
            <a:ext cx="603504" cy="603504"/>
          </a:xfrm>
          <a:prstGeom prst="rect">
            <a:avLst/>
          </a:prstGeom>
        </p:spPr>
      </p:pic>
      <p:pic>
        <p:nvPicPr>
          <p:cNvPr id="31" name="Picture 30" descr="streamlit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8668" y="3995927"/>
            <a:ext cx="603504" cy="60350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74519" y="4690872"/>
            <a:ext cx="10287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24272B"/>
                </a:solidFill>
                <a:latin typeface="Helvetica Neue"/>
              </a:rPr>
              <a:t>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11780" y="4690872"/>
            <a:ext cx="10287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1" i="0">
                <a:solidFill>
                  <a:srgbClr val="24272B"/>
                </a:solidFill>
                <a:latin typeface="Helvetica Neue"/>
              </a:rPr>
              <a:t>Streamlit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65960" y="4983479"/>
            <a:ext cx="17830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/query · OAuth2 + JWT</a:t>
            </a:r>
          </a:p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session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3246120"/>
            <a:ext cx="3063240" cy="23317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444B5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3319272"/>
            <a:ext cx="28437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B6C53"/>
                </a:solidFill>
                <a:latin typeface="Courier New"/>
              </a:rPr>
              <a:t>QUERY PIPELINE</a:t>
            </a:r>
          </a:p>
        </p:txBody>
      </p:sp>
      <p:sp>
        <p:nvSpPr>
          <p:cNvPr id="37" name="Oval 36"/>
          <p:cNvSpPr/>
          <p:nvPr/>
        </p:nvSpPr>
        <p:spPr>
          <a:xfrm>
            <a:off x="4613148" y="3758183"/>
            <a:ext cx="512064" cy="512064"/>
          </a:xfrm>
          <a:prstGeom prst="ellipse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13148" y="3758183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2200" b="0" i="0">
                <a:solidFill>
                  <a:srgbClr val="24272B"/>
                </a:solidFill>
                <a:latin typeface="Helvetica Neue"/>
              </a:rPr>
              <a:t>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306824"/>
            <a:ext cx="7772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24272B"/>
                </a:solidFill>
                <a:latin typeface="Helvetica Neue"/>
              </a:rPr>
              <a:t>Rewrite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143500" y="4014215"/>
            <a:ext cx="457200" cy="0"/>
          </a:xfrm>
          <a:prstGeom prst="line">
            <a:avLst/>
          </a:prstGeom>
          <a:ln w="12700">
            <a:solidFill>
              <a:srgbClr val="444B5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huggingface.sv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8988" y="3758183"/>
            <a:ext cx="512064" cy="51206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86400" y="4306824"/>
            <a:ext cx="7772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24272B"/>
                </a:solidFill>
                <a:latin typeface="Helvetica Neue"/>
              </a:rPr>
              <a:t>Rerank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49340" y="4014215"/>
            <a:ext cx="457200" cy="0"/>
          </a:xfrm>
          <a:prstGeom prst="line">
            <a:avLst/>
          </a:prstGeom>
          <a:ln w="12700">
            <a:solidFill>
              <a:srgbClr val="444B5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 descr="openai.sv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828" y="3758183"/>
            <a:ext cx="512064" cy="51206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492240" y="4306824"/>
            <a:ext cx="7772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24272B"/>
                </a:solidFill>
                <a:latin typeface="Helvetica Neue"/>
              </a:rPr>
              <a:t>Generate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4800600"/>
            <a:ext cx="28803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HyDE · hybrid search (BM25 + vector, RRF)</a:t>
            </a:r>
          </a:p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cross-encoder rerank · GPT-4o + citations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09560" y="3246120"/>
            <a:ext cx="1874519" cy="23317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444B5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19288" y="3319272"/>
            <a:ext cx="1655063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B6C53"/>
                </a:solidFill>
                <a:latin typeface="Courier New"/>
              </a:rPr>
              <a:t>STORAGE</a:t>
            </a:r>
          </a:p>
        </p:txBody>
      </p:sp>
      <p:pic>
        <p:nvPicPr>
          <p:cNvPr id="49" name="Picture 48" descr="qdrant.sv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7636" y="3922776"/>
            <a:ext cx="658368" cy="6583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909560" y="4672583"/>
            <a:ext cx="1874519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4272B"/>
                </a:solidFill>
                <a:latin typeface="Helvetica Neue"/>
              </a:rPr>
              <a:t>Qdrant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0" y="4965192"/>
            <a:ext cx="1691639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vector store</a:t>
            </a:r>
          </a:p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+ in-memory BM25 index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5560" y="3246120"/>
            <a:ext cx="1325880" cy="23317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444B5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87000" y="3319272"/>
            <a:ext cx="114300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B6C53"/>
                </a:solidFill>
                <a:latin typeface="Courier New"/>
              </a:rPr>
              <a:t>TRACING</a:t>
            </a:r>
          </a:p>
        </p:txBody>
      </p:sp>
      <p:sp>
        <p:nvSpPr>
          <p:cNvPr id="54" name="Oval 53"/>
          <p:cNvSpPr/>
          <p:nvPr/>
        </p:nvSpPr>
        <p:spPr>
          <a:xfrm>
            <a:off x="10602468" y="3950207"/>
            <a:ext cx="512064" cy="512064"/>
          </a:xfrm>
          <a:prstGeom prst="ellipse">
            <a:avLst/>
          </a:prstGeom>
          <a:solidFill>
            <a:srgbClr val="1C2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2468" y="3950207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6FE3A6"/>
                </a:solidFill>
                <a:latin typeface="Courier New"/>
              </a:rPr>
              <a:t>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95560" y="4544568"/>
            <a:ext cx="13258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24272B"/>
                </a:solidFill>
                <a:latin typeface="Helvetica Neue"/>
              </a:rPr>
              <a:t>Langfuse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4782312"/>
            <a:ext cx="123443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every stage is a</a:t>
            </a:r>
          </a:p>
          <a:p>
            <a:pPr algn="ctr">
              <a:lnSpc>
                <a:spcPct val="12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traced span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1060704" y="4251960"/>
            <a:ext cx="813815" cy="457200"/>
          </a:xfrm>
          <a:prstGeom prst="line">
            <a:avLst/>
          </a:prstGeom>
          <a:ln w="19050">
            <a:solidFill>
              <a:srgbClr val="1A1D21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40479" y="4251960"/>
            <a:ext cx="502921" cy="0"/>
          </a:xfrm>
          <a:prstGeom prst="line">
            <a:avLst/>
          </a:prstGeom>
          <a:ln w="19050">
            <a:solidFill>
              <a:srgbClr val="1A1D21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406640" y="4251960"/>
            <a:ext cx="502920" cy="0"/>
          </a:xfrm>
          <a:prstGeom prst="line">
            <a:avLst/>
          </a:prstGeom>
          <a:ln w="19050">
            <a:solidFill>
              <a:srgbClr val="1A1D21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52360" y="4288536"/>
            <a:ext cx="4114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00" b="0" i="1">
                <a:solidFill>
                  <a:srgbClr val="6B727A"/>
                </a:solidFill>
                <a:latin typeface="Helvetica Neue"/>
              </a:rPr>
              <a:t>top-20 → top-5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783579" y="2514600"/>
            <a:ext cx="3063241" cy="731520"/>
          </a:xfrm>
          <a:prstGeom prst="bentConnector3">
            <a:avLst/>
          </a:prstGeom>
          <a:ln w="19050">
            <a:solidFill>
              <a:srgbClr val="1A1D2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069580" y="2569464"/>
            <a:ext cx="15544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00" b="0" i="1">
                <a:solidFill>
                  <a:srgbClr val="6B727A"/>
                </a:solidFill>
                <a:latin typeface="Helvetica Neue"/>
              </a:rPr>
              <a:t>idempotent upsert</a:t>
            </a:r>
          </a:p>
        </p:txBody>
      </p:sp>
      <p:cxnSp>
        <p:nvCxnSpPr>
          <p:cNvPr id="64" name="Connector 63"/>
          <p:cNvCxnSpPr/>
          <p:nvPr/>
        </p:nvCxnSpPr>
        <p:spPr>
          <a:xfrm flipV="1">
            <a:off x="2857500" y="2926079"/>
            <a:ext cx="0" cy="320041"/>
          </a:xfrm>
          <a:prstGeom prst="bentConnector3">
            <a:avLst/>
          </a:prstGeom>
          <a:ln w="13970">
            <a:solidFill>
              <a:srgbClr val="9AA3A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857500" y="2926079"/>
            <a:ext cx="7086600" cy="0"/>
          </a:xfrm>
          <a:prstGeom prst="bentConnector3">
            <a:avLst/>
          </a:prstGeom>
          <a:ln w="13970">
            <a:solidFill>
              <a:srgbClr val="9AA3A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944100" y="2926079"/>
            <a:ext cx="914400" cy="320041"/>
          </a:xfrm>
          <a:prstGeom prst="line">
            <a:avLst/>
          </a:prstGeom>
          <a:ln w="13970">
            <a:solidFill>
              <a:srgbClr val="9AA3A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875020" y="3063239"/>
            <a:ext cx="0" cy="182881"/>
          </a:xfrm>
          <a:prstGeom prst="bentConnector3">
            <a:avLst/>
          </a:prstGeom>
          <a:ln w="13970">
            <a:solidFill>
              <a:srgbClr val="9AA3A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875020" y="3063239"/>
            <a:ext cx="4983480" cy="0"/>
          </a:xfrm>
          <a:prstGeom prst="bentConnector3">
            <a:avLst/>
          </a:prstGeom>
          <a:ln w="13970">
            <a:solidFill>
              <a:srgbClr val="9AA3A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2948940" y="2642615"/>
            <a:ext cx="3840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750" b="0" i="1">
                <a:solidFill>
                  <a:srgbClr val="6B727A"/>
                </a:solidFill>
                <a:latin typeface="Helvetica Neue"/>
              </a:rPr>
              <a:t>trace spans (per pipeline stage)</a:t>
            </a:r>
          </a:p>
        </p:txBody>
      </p:sp>
      <p:sp>
        <p:nvSpPr>
          <p:cNvPr id="70" name="Hexagon 69"/>
          <p:cNvSpPr/>
          <p:nvPr/>
        </p:nvSpPr>
        <p:spPr>
          <a:xfrm>
            <a:off x="11457432" y="5696712"/>
            <a:ext cx="402336" cy="402336"/>
          </a:xfrm>
          <a:prstGeom prst="hexagon">
            <a:avLst/>
          </a:prstGeom>
          <a:solidFill>
            <a:srgbClr val="EEF1F4"/>
          </a:solidFill>
          <a:ln w="9525">
            <a:solidFill>
              <a:srgbClr val="444B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104120" y="6117336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</a:pPr>
            <a:r>
              <a:rPr sz="750" b="0" i="0">
                <a:solidFill>
                  <a:srgbClr val="6B727A"/>
                </a:solidFill>
                <a:latin typeface="Courier New"/>
              </a:rPr>
              <a:t>docker network: rag_internal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6263640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2B6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26364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Helvetica Neue"/>
              </a:rPr>
              <a:t>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808" y="6245352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4272B"/>
                </a:solidFill>
                <a:latin typeface="Helvetica Neue"/>
              </a:rPr>
              <a:t>procurement-rag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