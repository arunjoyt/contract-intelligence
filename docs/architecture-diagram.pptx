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6FE3A6"/>
                </a:solidFill>
                <a:latin typeface="Courier New"/>
              </a:rPr>
              <a:t>QUERY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EEF1EA"/>
                </a:solidFill>
                <a:latin typeface="Helvetica Neue"/>
              </a:rPr>
              <a:t>From an ERPNext record to a cited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pnext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938528"/>
            <a:ext cx="512064" cy="512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27614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EEF1EA"/>
                </a:solidFill>
                <a:latin typeface="Helvetica Neue"/>
              </a:rPr>
              <a:t>ERPNext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35808"/>
            <a:ext cx="13716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9FA99C"/>
                </a:solidFill>
                <a:latin typeface="Courier New"/>
              </a:rPr>
              <a:t>source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600200"/>
            <a:ext cx="1600200" cy="1600200"/>
          </a:xfrm>
          <a:prstGeom prst="roundRect">
            <a:avLst>
              <a:gd name="adj" fmla="val 10000"/>
            </a:avLst>
          </a:prstGeom>
          <a:solidFill>
            <a:srgbClr val="121613"/>
          </a:solidFill>
          <a:ln w="12700">
            <a:solidFill>
              <a:srgbClr val="2B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2039112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EEF1EA"/>
                </a:solidFill>
                <a:latin typeface="Helvetica Neue"/>
              </a:rPr>
              <a:t>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4248" y="2368296"/>
            <a:ext cx="138074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950" b="0">
                <a:solidFill>
                  <a:srgbClr val="9FA99C"/>
                </a:solidFill>
                <a:latin typeface="Courier New"/>
              </a:rPr>
              <a:t>parse  ·  chunk  ·  embed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173736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qdrant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7" y="1938528"/>
            <a:ext cx="512064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03320" y="27614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EEF1EA"/>
                </a:solidFill>
                <a:latin typeface="Helvetica Neue"/>
              </a:rPr>
              <a:t>Qdrant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35808"/>
            <a:ext cx="13716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9FA99C"/>
                </a:solidFill>
                <a:latin typeface="Courier New"/>
              </a:rPr>
              <a:t>vector 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600200"/>
            <a:ext cx="1600200" cy="1600200"/>
          </a:xfrm>
          <a:prstGeom prst="roundRect">
            <a:avLst>
              <a:gd name="adj" fmla="val 10000"/>
            </a:avLst>
          </a:prstGeom>
          <a:solidFill>
            <a:srgbClr val="121613"/>
          </a:solidFill>
          <a:ln w="12700">
            <a:solidFill>
              <a:srgbClr val="2B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75020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uggingface.s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59" y="1847088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94959" y="2331720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EEF1EA"/>
                </a:solidFill>
                <a:latin typeface="Helvetica Neue"/>
              </a:rPr>
              <a:t>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660903"/>
            <a:ext cx="138074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950" b="0">
                <a:solidFill>
                  <a:srgbClr val="9FA99C"/>
                </a:solidFill>
                <a:latin typeface="Courier New"/>
              </a:rPr>
              <a:t>BM25 + vector · RRF · rerank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600200"/>
            <a:ext cx="1600200" cy="1600200"/>
          </a:xfrm>
          <a:prstGeom prst="roundRect">
            <a:avLst>
              <a:gd name="adj" fmla="val 10000"/>
            </a:avLst>
          </a:prstGeom>
          <a:solidFill>
            <a:srgbClr val="121613"/>
          </a:solidFill>
          <a:ln w="12700">
            <a:solidFill>
              <a:srgbClr val="2B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86700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openai.sv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8140" y="1847088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06640" y="2331720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EEF1EA"/>
                </a:solidFill>
                <a:latin typeface="Helvetica Neue"/>
              </a:rPr>
              <a:t>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2660903"/>
            <a:ext cx="138074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950" b="0">
                <a:solidFill>
                  <a:srgbClr val="9FA99C"/>
                </a:solidFill>
                <a:latin typeface="Courier New"/>
              </a:rPr>
              <a:t>HyDE rewrite ·</a:t>
            </a:r>
          </a:p>
          <a:p>
            <a:pPr algn="ctr">
              <a:lnSpc>
                <a:spcPct val="130000"/>
              </a:lnSpc>
            </a:pPr>
            <a:r>
              <a:rPr sz="950" b="0">
                <a:solidFill>
                  <a:srgbClr val="9FA99C"/>
                </a:solidFill>
                <a:latin typeface="Courier New"/>
              </a:rPr>
              <a:t>GPT-4o generate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173736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stapi.sv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3768" y="1938528"/>
            <a:ext cx="512064" cy="5120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44000" y="27614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EEF1EA"/>
                </a:solidFill>
                <a:latin typeface="Helvetica Neue"/>
              </a:rPr>
              <a:t>FastAPI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035808"/>
            <a:ext cx="13716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9FA99C"/>
                </a:solidFill>
                <a:latin typeface="Courier New"/>
              </a:rPr>
              <a:t>/query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89920" y="173736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F4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treamlit.sv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1088" y="1938528"/>
            <a:ext cx="512064" cy="5120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561320" y="27614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EEF1EA"/>
                </a:solidFill>
                <a:latin typeface="Helvetica Neue"/>
              </a:rPr>
              <a:t>Streamlit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1320" y="3035808"/>
            <a:ext cx="13716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9FA99C"/>
                </a:solidFill>
                <a:latin typeface="Courier New"/>
              </a:rPr>
              <a:t>chat UI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463040" y="2194560"/>
            <a:ext cx="411479" cy="0"/>
          </a:xfrm>
          <a:prstGeom prst="line">
            <a:avLst/>
          </a:prstGeom>
          <a:ln w="25400">
            <a:solidFill>
              <a:srgbClr val="6FE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74720" y="2194560"/>
            <a:ext cx="411480" cy="0"/>
          </a:xfrm>
          <a:prstGeom prst="line">
            <a:avLst/>
          </a:prstGeom>
          <a:ln w="25400">
            <a:solidFill>
              <a:srgbClr val="6FE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892040" y="2194560"/>
            <a:ext cx="411480" cy="0"/>
          </a:xfrm>
          <a:prstGeom prst="line">
            <a:avLst/>
          </a:prstGeom>
          <a:ln w="25400">
            <a:solidFill>
              <a:srgbClr val="6FE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903720" y="2194560"/>
            <a:ext cx="411480" cy="0"/>
          </a:xfrm>
          <a:prstGeom prst="line">
            <a:avLst/>
          </a:prstGeom>
          <a:ln w="25400">
            <a:solidFill>
              <a:srgbClr val="6FE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15400" y="2194560"/>
            <a:ext cx="411480" cy="0"/>
          </a:xfrm>
          <a:prstGeom prst="line">
            <a:avLst/>
          </a:prstGeom>
          <a:ln w="25400">
            <a:solidFill>
              <a:srgbClr val="6FE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332719" y="2194560"/>
            <a:ext cx="411481" cy="0"/>
          </a:xfrm>
          <a:prstGeom prst="line">
            <a:avLst/>
          </a:prstGeom>
          <a:ln w="25400">
            <a:solidFill>
              <a:srgbClr val="6FE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15300" y="3200400"/>
            <a:ext cx="0" cy="411480"/>
          </a:xfrm>
          <a:prstGeom prst="line">
            <a:avLst/>
          </a:prstGeom>
          <a:ln w="25400">
            <a:solidFill>
              <a:srgbClr val="4A5C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246620" y="3611880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21613"/>
          </a:solidFill>
          <a:ln w="12700">
            <a:solidFill>
              <a:srgbClr val="2B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74636" y="3739896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C2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4636" y="37398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6FE3A6"/>
                </a:solidFill>
                <a:latin typeface="Courier New"/>
              </a:rPr>
              <a:t>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6971" y="3685032"/>
            <a:ext cx="1115567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EF1EA"/>
                </a:solidFill>
                <a:latin typeface="Helvetica Neue"/>
              </a:rPr>
              <a:t>Langfuse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6971" y="3904488"/>
            <a:ext cx="1115567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9FA99C"/>
                </a:solidFill>
                <a:latin typeface="Courier New"/>
              </a:rPr>
              <a:t>every span traced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FA99C"/>
                </a:solidFill>
                <a:latin typeface="Helvetica Neue"/>
              </a:rPr>
              <a:t>ERPNext  →  Ingestion  →  Qdrant  →  Retrieval  →  Pipeline  →  FastAPI  →  Streamlit — every stage of a query is a traced span in Langfuse.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